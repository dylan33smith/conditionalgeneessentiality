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PURPOSE. We tested whether a modern AI model can predict which growth conditions a bacterial gene is most sensitive to. The honest answer is 'a simple lookup does it better.' These notes define the jargon as we go.</a:t>
            </a:r>
          </a:p>
          <a:p>
            <a:r>
              <a:t>Roadmap (two acts): first we tried to predict each gene's exact fitness on never-seen genomes — the 'T-regime'; it failed in an instructive way. So we reframed to RANKING a known gene's stressors — the 'R-regime'. The slides follow that order.</a:t>
            </a:r>
          </a:p>
          <a:p>
            <a:r>
              <a:t>Gene essentiality: a gene is 'essential' if the cell can't grow without it. CONDITIONAL essentiality means a gene is needed only in some situations (a certain nutrient missing, a toxin present), not always — that's what we predict.</a:t>
            </a:r>
          </a:p>
          <a:p>
            <a:r>
              <a:t>Tn-seq (transposon sequencing): a wet-lab method that disables every gene across a population, grows them in some condition, and sequences to see which knockouts became rarer. If disabling a gene hurts growth, that gene mattered there. The readout is a 'fitness' score per gene per condition.</a:t>
            </a:r>
          </a:p>
          <a:p>
            <a:r>
              <a:t>Protein language model (e.g., ProteomeLM): an AI trained on millions of protein sequences, like a language model for proteins. It turns a protein into an 'embedding' — a list of numbers capturing its properties. 'Frozen' = used as-is, never retrained.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project's FIRST attempt, chronologically before the ranking work.</a:t>
            </a:r>
          </a:p>
          <a:p>
            <a:r>
              <a:t>Regression vs ranking: here we tried to predict the actual NUMBER (continuous fitness) — that's 'regression'. Later we switch to predicting just the ORDER of conditions — 'ranking'.</a:t>
            </a:r>
          </a:p>
          <a:p>
            <a:r>
              <a:t>Whole-genome / cross-organism holdout: we trained on some bacterial species and tested on ENTIRELY DIFFERENT species, holding out whole genomes. This is the most ambitious kind of generalization: the test genes belong to organisms never seen in training, so the model has no prior measurements for them and must work from protein sequence alone.</a:t>
            </a:r>
          </a:p>
          <a:p>
            <a:r>
              <a:t>RMSE (root-mean-square error) and MAE (mean absolute error): two ways to measure how far predictions land from the true values; lower is better. 'Co-primary' means we required both to improve.</a:t>
            </a:r>
          </a:p>
          <a:p>
            <a:r>
              <a:t>Why it's the dream: if it worked, you could predict gene essentiality for a brand-new microbe you've never assayed in the lab.</a:t>
            </a:r>
          </a:p>
          <a:p>
            <a:r>
              <a:t>The right-hand schematic: teal chips = species used for training; the amber chip = a held-out species whose genes have no training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didn't train one network and stop. We ran a disciplined, PRE-REGISTERED sequence of experiments ('tiers'), each isolating ONE design choice, with success criteria written down in advance and a 'decision-ledger' entry recording the outcome. That discipline is what makes the eventual negative result trustworthy rather than a case of 'not trying hard enough'.</a:t>
            </a:r>
          </a:p>
          <a:p>
            <a:r>
              <a:t>S0–S5 are setup stages: reproducibility (can we re-run exactly?), data characterization (what's actually in the data?), evaluation trustworthiness (are our metrics and baselines sound?), split lock (freeze the train/test division so we can't cheat), feature contract (freeze how inputs are encoded), and training recipe (fix data-cleaning and which organisms to pool).</a:t>
            </a:r>
          </a:p>
          <a:p>
            <a:r>
              <a:t>T1 Representation: how to encode the condition's chemistry. A simple 'multihot' vector (which chemicals are present) won.</a:t>
            </a:r>
          </a:p>
          <a:p>
            <a:r>
              <a:t>T2 Fusion: how to combine the gene vector and the chemistry vector. Concatenating them early and feeding a small neural net (MLP = multi-layer perceptron) beat fancier designs (two-tower, FiLM).</a:t>
            </a:r>
          </a:p>
          <a:p>
            <a:r>
              <a:t>T3 Capacity: how big/deep the network is. A 2-layer residual MLP of width 512 was enough; bigger didn't help. (A 'residual' connection lets a layer learn an adjustment on top of its input, which helps training.)</a:t>
            </a:r>
          </a:p>
          <a:p>
            <a:r>
              <a:t>T4 Optimization: the loss and training schedule — plain MSE on raw (un-normalized) targets, trained briefly.</a:t>
            </a:r>
          </a:p>
          <a:p>
            <a:r>
              <a:t>T5 Embedding: we questioned the frozen embedding and added a small trainable 'adapter' on top of ProteomeLM's layer 8 — the first real improvement, and ProteomeLM beat another protein model, ESM-C.</a:t>
            </a:r>
          </a:p>
          <a:p>
            <a:r>
              <a:t>T6 Chemistry: we retried molecular 'fingerprints' (structure-based encodings) — multihot still won. Bottom line: we exhaustively optimized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turning point. Despite optimizing RMSE/MAE across the whole T pipeline, the biologically meaningful quantity failed.</a:t>
            </a:r>
          </a:p>
          <a:p>
            <a:r>
              <a:t>Within-gene ranking: instead of error on raw values, ask 'did we get the ORDER of conditions right for each gene?' We measure it with Spearman correlation (−1 to +1; +1 = perfect order). We got ≈ 0.045 — essentially random.</a:t>
            </a:r>
          </a:p>
          <a:p>
            <a:r>
              <a:t>Noise floor (a.k.a. ceiling): the score you'd get just from one biological replicate predicting another — the best achievable given measurement noise. Here it's ~0.43, so 0.045 is far below it: a real failure, not a hard-but-okay result.</a:t>
            </a:r>
          </a:p>
          <a:p>
            <a:r>
              <a:t>Why RMSE looked fine yet ranking failed: RMSE is 'gene-mean-dominated' — most of its score comes from getting each gene's overall AVERAGE fitness level right (easy), which says nothing about the gene×condition INTERACTION (the specific, hard signal we actually want).</a:t>
            </a:r>
          </a:p>
          <a:p>
            <a:r>
              <a:t>ESM-C: a different, well-known protein language model we compared against. ProteomeLM beat it by a negligible margin (~0.006 RMSE), reinforcing that sequence embeddings simply don't encode how a gene responds to stress — they're 'fitness-blind'.</a:t>
            </a:r>
          </a:p>
          <a:p>
            <a:r>
              <a:t>The decision: cross-organism (whole-genome) transfer of the conditional signal is ≈ 0. So we made two changes — narrowed the claim from cross-organism to WITHIN-organism, and switched from predicting values (regression) to ranking conditions. That pivot ('R-regime') defines the rest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RANK, not predict exact values: a biologist mainly wants the ORDER — which conditions stress this gene most — not the precise number. Ranking is both easier and more useful, so all our R-regime metrics are ranking metrics.</a:t>
            </a:r>
          </a:p>
          <a:p>
            <a:r>
              <a:t>Novel / held-out conditions: conditions the model never saw in training. We always test on unseen conditions.</a:t>
            </a:r>
          </a:p>
          <a:p>
            <a:r>
              <a:t>Baseline: a deliberately simple comparison method. If a complex model can't beat a simple baseline, the complexity isn't buying anything. Our key baseline is 'chemistry-similarity' (next slides).</a:t>
            </a:r>
          </a:p>
          <a:p>
            <a:r>
              <a:t>Gene-specific interaction: does the model learn something particular about how THIS gene reacts, versus echoing trends shared by all genes? That distinction is the crux.</a:t>
            </a:r>
          </a:p>
          <a:p>
            <a:r>
              <a:t>The 'ingredients' card: 1152-d embedding = each gene described by 1152 numbers, read from layer 8 ('L8'). 425-d multihot = a 425-slot on/off vector marking which chemicals are present (1 = present). relevance = max(0, −fit): fitness below zero means the knockout hurt growth, so the gene was needed → that condition is a 'stressor'; non-hurting conditions get relevance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data: each row is one gene measured in one experiment (27.4 million such measurements), from the public RB-TnSeq 'Fitness Browser' dataset (Wetmore et al., 2015).</a:t>
            </a:r>
          </a:p>
          <a:p>
            <a:r>
              <a:t>Replicate structure: the same condition was run more than once, which lets us estimate measurement noise — later this becomes our performance 'ceiling'.</a:t>
            </a:r>
          </a:p>
          <a:p>
            <a:r>
              <a:t>Picture a matrix: rows = genes, columns = conditions, entries = fitness. CONDITION-HOLDOUT hides entire COLUMNS for testing. Those columns are 'cold' — zero observed entries.</a:t>
            </a:r>
          </a:p>
          <a:p>
            <a:r>
              <a:t>Matrix factorization / collaborative filtering: the 'Netflix recommendation' trick — fill missing matrix entries by learning hidden factors per row and column. Key limitation: it can only place a column that has SOME observed entries. A fully empty (cold) column can't be placed from the matrix alone.</a:t>
            </a:r>
          </a:p>
          <a:p>
            <a:r>
              <a:t>Side information / side-features: extra description of a column that lets you locate a never-seen one — here, the condition's CHEMISTRY. Because we must use it, this is 'inductive (cold-start) matrix completion', harder and more realistic than filling random missing cells.</a:t>
            </a:r>
          </a:p>
          <a:p>
            <a:r>
              <a:t>Stratified by stressor group: when splitting, we ensure each TYPE of stress (acids, metals, antibiotics, temperature…) appears on both sides, so the test set is representative.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Spearman correlation: how well two orderings agree, −1 (reversed) to +1 (identical). Computed WITHIN each gene across its conditions, then averaged over genes.</a:t>
            </a:r>
          </a:p>
          <a:p>
            <a:r>
              <a:t>NDCG@5 (Normalized Discounted Cumulative Gain at 5): a ranking score from search engines. It rewards putting the truly biggest stressors in your top 5, with more credit for higher placement, normalized so 1.0 = a perfect top-5. We favor it because 'find the top stressors' is the real use-case.</a:t>
            </a:r>
          </a:p>
          <a:p>
            <a:r>
              <a:t>Bootstrap / confidence interval: resample the data many times to see how much the score wobbles. 'Hierarchical org→gene' resamples organisms first, then genes within them, because genes in the same organism aren't independent. 'CIs disjoint' = intervals don't overlap, so a difference is real, not luck.</a:t>
            </a:r>
          </a:p>
          <a:p>
            <a:r>
              <a:t>Promotion delta / 'the gate': before running anything we pre-registered the rule — a new method must beat the baseline by at least ~0.026 NDCG@5 to count as a win. That baseline is chem-kNN, 'the gate'.</a:t>
            </a:r>
          </a:p>
          <a:p>
            <a:r>
              <a:t>The ladder rows: chem-NULL = predict the average condition-effect across all genes (no gene specificity). deep model = our intended neural net. linear-MF = a gene vector learned purely from fitness data (a 'fitness-aware' representation). chem-kNN = look up the gene's own fitness at the most chemically-similar known conditions. ceiling = replicate agreement (the most any method could score).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independent 'levers' you could pull to improve a model — all three fail to beat the lookup.</a:t>
            </a:r>
          </a:p>
          <a:p>
            <a:r>
              <a:t>Encoder: how we turn a condition's chemistry into numbers. 'Multihot' = which chemicals are present. 'Fingerprints' (Morgan, RDKit, MACCS) = standard cheminformatics encodings of a molecule's STRUCTURE as a bit-vector (which substructures it contains).</a:t>
            </a:r>
          </a:p>
          <a:p>
            <a:r>
              <a:t>Objective / loss function: the quantity minimized during training. MSE = mean squared error. Huber = like MSE but robust to outliers. RankNet / LambdaRank / ListMLE / ApproxNDCG = losses purpose-built to optimize ORDER rather than exact values.</a:t>
            </a:r>
          </a:p>
          <a:p>
            <a:r>
              <a:t>Capacity: how flexible/powerful the model is, roughly its number of learned 'parameters' (tunable numbers). A tiny linear model (~13k) ties a deep nonlinear net (~2.5M) — so raw power isn't the bottleneck.</a:t>
            </a:r>
          </a:p>
          <a:p>
            <a:r>
              <a:t>Global parametric model: one fixed set of weights applied to every gene (vs a 'local' lookup that answers per-gene). 'Plateau' = performance flattens no matter what we change — the tell-tale that the bottleneck is elsewhere.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WHY behind the result. Two kinds of signal: (1) the population / cross-gene pattern — trends shared by most genes (e.g., 'this antibiotic hurts almost everything'); and (2) the within-gene signal — the specific ordering of conditions for ONE gene.</a:t>
            </a:r>
          </a:p>
          <a:p>
            <a:r>
              <a:t>The population pattern alone carries essentially zero useful within-gene ordering (that's chem-NULL scoring near zero). So all the real signal is in each gene's OWN deviations from the crowd — its idiosyncrasies.</a:t>
            </a:r>
          </a:p>
          <a:p>
            <a:r>
              <a:t>A global model minimizes AVERAGE error over ~54,000 genes. To do that it learns the crowd behavior and treats each gene's quirks as random noise — it 'averages them away'. That's exactly the signal we needed.</a:t>
            </a:r>
          </a:p>
          <a:p>
            <a:r>
              <a:t>kNN (k-nearest neighbors): a 'non-parametric' method — no learned weights; to predict it finds the k most similar known examples and averages them. Here 'similar' = chemically-near conditions for the SAME gene, so it preserves that gene's idiosyncratic history.</a:t>
            </a:r>
          </a:p>
          <a:p>
            <a:r>
              <a:t>The doctor analogy: a global model is like diagnosing a stranger from their demographic 'type'; kNN is like having that exact patient's full chart. When the chart exists and the patient is unusual, the chart wins — not by being smarter, but by holding patient-specific information the global view discarded.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model and the lookup each know different things, COMBINING them (a 'hybrid'/'ensemble') should beat either alone. We tried four ways; none clears the bar.</a:t>
            </a:r>
          </a:p>
          <a:p>
            <a:r>
              <a:t>z-scored: before blending two predictors we standardize each (subtract mean, divide by standard deviation) so they're on the same scale. Convex blend with weight α: final = α·kNN + (1−α)·model, α in [0,1]. 'Held-out α' = choose α on one half of the genes, report on the other half, so we don't cheat.</a:t>
            </a:r>
          </a:p>
          <a:p>
            <a:r>
              <a:t>Residual hybrid: train the model to predict only the part kNN gets WRONG (truth minus kNN), then add it back. 'LOO' (leave-one-out): when computing kNN's training-time prediction for a point, exclude that point itself so it can't copy its own answer.</a:t>
            </a:r>
          </a:p>
          <a:p>
            <a:r>
              <a:t>Retrieval-augmented: feed the model the kNN evidence (nearest neighbors' fitness) as extra inputs. Learned gating: train a small network to decide, case by case, how much to trust kNN vs the model.</a:t>
            </a:r>
          </a:p>
          <a:p>
            <a:r>
              <a:t>'Sign-flips by seed': rerunning with different random seeds gave sometimes +, sometimes − — the hallmark of noise, not a real effect. 'Promotable' = large AND reliable enough to count under our pre-registered rule. None were.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rebuts the most common objection: 'your answer key (the fitness labels) is noisy, so maybe the model is fine and the metric is just measuring noise'.</a:t>
            </a:r>
          </a:p>
          <a:p>
            <a:r>
              <a:t>Label noise: measurement error in the fitness values themselves — the ground truth we score against is imperfect.</a:t>
            </a:r>
          </a:p>
          <a:p>
            <a:r>
              <a:t>Moderated t-statistic (|t|): a per-measurement confidence score = effect size divided by its noise, then 'moderated' (stabilized by borrowing information across many measurements — the idea behind the limma method in genomics). Large |t| = a confident, real effect; |t| &gt; 4 is the field's standard 'this is real' threshold. It's already in our dataset.</a:t>
            </a:r>
          </a:p>
          <a:p>
            <a:r>
              <a:t>Stratify into quartiles: sort genes by confidence and split into four equal groups (Q1 least … Q4 most confident), then analyze each separately.</a:t>
            </a:r>
          </a:p>
          <a:p>
            <a:r>
              <a:t>Reading the figure: as confidence rises (left→right) every method improves and so does the ceiling (0.59→0.83) — confirming noise really does depress scores. BUT the orange kNN line stays above the blue model line in every group; the gap shrinks (0.055→0.040) yet never closes. Even on the cleanest genes, the model loses — the deficit is structural, not just noise. Upweighting confident rows during training ('t-weighted') also didn't help (Δ ≈ −0.004).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consolidated recap. Two recurring contrasts to keep straight:</a:t>
            </a:r>
          </a:p>
          <a:p>
            <a:r>
              <a:t>Parametric vs non-parametric: the neural net learns fixed weights (parametric); the kNN lookup just stores and retrieves data (non-parametric). Here the simple non-parametric method wins.</a:t>
            </a:r>
          </a:p>
          <a:p>
            <a:r>
              <a:t>Fitness-blind vs fitness-aware representation: the frozen ProteomeLM embedding only knows sequence/structure — nothing about stress response ('fitness-blind'). The linear-MF gene vector is learned from fitness data ('fitness-aware') — yet it STILL loses to the lookup, telling us the bottleneck isn't the representation, it's the global-vs-local structure of the task.</a:t>
            </a:r>
          </a:p>
          <a:p>
            <a:r>
              <a:t>Memorization vs generalization: the task rewards recalling a known gene's own history (memorization) far more than learning a transferable rule (generalization) — which is why a lookup is hard to beat, and why cross-species transfer (the T-regime)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Characterization paper: a paper whose contribution is to rigorously map out and benchmark a problem — including a well-supported NEGATIVE result and a strong baseline — rather than to propose a new state-of-the-art method. These are valuable and publishable when done carefully.</a:t>
            </a:r>
          </a:p>
          <a:p>
            <a:r>
              <a:t>Pre-registered: we wrote success criteria and the analysis plan BEFORE running experiments, preventing 'moving the goalposts' after seeing results — which is what makes a negative result credible.</a:t>
            </a:r>
          </a:p>
          <a:p>
            <a:r>
              <a:t>Warm vs cold: 'warm' = the gene/condition was seen in training; 'cold' = never seen. Everything here is the warm-gene case. The cold-gene diagnostic tests genes never seen in training — and notably kNN has no history to look up for a brand-new gene, so it's the one regime where a global model could in principle help. We list it as optional, not a make-or-break gate.</a:t>
            </a:r>
          </a:p>
          <a:p>
            <a:r>
              <a:t>R-EMB / fitness-aware inductive embedding: the tempting 'moonshot' of training a new embedding that DOES encode fitness response. We defer it: linear-MF suggests it won't help the warm task, and its only real target — cold transfer across species — is exactly where the evidence is most discouraging (recall the T-regime).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1005840"/>
            <a:ext cx="292608" cy="292608"/>
          </a:xfrm>
          <a:prstGeom prst="ellipse">
            <a:avLst/>
          </a:prstGeom>
          <a:solidFill>
            <a:srgbClr val="8A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1371600"/>
            <a:ext cx="182880" cy="1828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0" y="822960"/>
            <a:ext cx="128016" cy="128016"/>
          </a:xfrm>
          <a:prstGeom prst="ellipse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0" y="1554480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1965960"/>
            <a:ext cx="237744" cy="23774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078992"/>
            <a:ext cx="118872" cy="566928"/>
          </a:xfrm>
          <a:prstGeom prst="rect">
            <a:avLst/>
          </a:prstGeom>
          <a:solidFill>
            <a:srgbClr val="8A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960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 spc="260">
                <a:solidFill>
                  <a:srgbClr val="8AD9CF"/>
                </a:solidFill>
                <a:latin typeface="Calibri"/>
              </a:rPr>
              <a:t>INTERNAL LAB MEETING  · 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8308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</a:rPr>
              <a:t>Can frozen protein-language-model embeddings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8AD9CF"/>
                </a:solidFill>
                <a:latin typeface="Georgia"/>
              </a:rPr>
              <a:t>predict conditional gene essentiality?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0" i="1">
                <a:solidFill>
                  <a:srgbClr val="C9DBDF"/>
                </a:solidFill>
                <a:latin typeface="Calibri"/>
              </a:rPr>
              <a:t>Two attempts on Tn-seq fitness data. First we tried to predict each gene's fitness on never-seen genomes — it failed instructively. We reframed to ranking a known gene's stressors, and found a simple chemistry lookup beats every learned model we built.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8AD9CF"/>
                </a:solidFill>
                <a:latin typeface="Calibri"/>
              </a:rPr>
              <a:t>T-regime</a:t>
            </a:r>
            <a:r>
              <a:rPr sz="1250" b="0" i="0">
                <a:solidFill>
                  <a:srgbClr val="9FB6BB"/>
                </a:solidFill>
                <a:latin typeface="Calibri"/>
              </a:rPr>
              <a:t>: cross-organism fitness regression    →    </a:t>
            </a:r>
            <a:r>
              <a:rPr sz="1250" b="1" i="0">
                <a:solidFill>
                  <a:srgbClr val="8AD9CF"/>
                </a:solidFill>
                <a:latin typeface="Calibri"/>
              </a:rPr>
              <a:t>R-regime</a:t>
            </a:r>
            <a:r>
              <a:rPr sz="1250" b="0" i="0">
                <a:solidFill>
                  <a:srgbClr val="9FB6BB"/>
                </a:solidFill>
                <a:latin typeface="Calibri"/>
              </a:rPr>
              <a:t>: within-organism conditional ranking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 spc="220">
                <a:solidFill>
                  <a:srgbClr val="2A9D8F"/>
                </a:solidFill>
                <a:latin typeface="Calibri"/>
              </a:rPr>
              <a:t>THE T-REGIME · CROSS-ORGANISM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381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2333B"/>
                </a:solidFill>
                <a:latin typeface="Georgia"/>
              </a:rPr>
              <a:t>Attempt 1 — predict a gene's fitness on a new genome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760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E7C86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12333B"/>
                </a:solidFill>
                <a:latin typeface="Calibri"/>
              </a:rPr>
              <a:t>The original goal: </a:t>
            </a:r>
            <a:r>
              <a:rPr sz="1450" b="0" i="0">
                <a:solidFill>
                  <a:srgbClr val="12333B"/>
                </a:solidFill>
                <a:latin typeface="Calibri"/>
              </a:rPr>
              <a:t>given a gene (its ProteomeLM embedding) and a condition (its chemistry), predict the </a:t>
            </a:r>
            <a:r>
              <a:rPr sz="1450" b="1" i="0">
                <a:solidFill>
                  <a:srgbClr val="0E7C86"/>
                </a:solidFill>
                <a:latin typeface="Calibri"/>
              </a:rPr>
              <a:t>continuous fitness value</a:t>
            </a:r>
            <a:r>
              <a:rPr sz="1450" b="0" i="0">
                <a:solidFill>
                  <a:srgbClr val="12333B"/>
                </a:solidFill>
                <a:latin typeface="Calibri"/>
              </a:rPr>
              <a:t> — a regression task.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E7C86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12333B"/>
                </a:solidFill>
                <a:latin typeface="Calibri"/>
              </a:rPr>
              <a:t>The ambitious test — </a:t>
            </a:r>
            <a:r>
              <a:rPr sz="1450" b="0" i="0">
                <a:solidFill>
                  <a:srgbClr val="12333B"/>
                </a:solidFill>
                <a:latin typeface="Calibri"/>
              </a:rPr>
              <a:t>whole-genome (cross-organism) holdout: </a:t>
            </a:r>
            <a:r>
              <a:rPr sz="1450" b="0" i="0">
                <a:solidFill>
                  <a:srgbClr val="12333B"/>
                </a:solidFill>
                <a:latin typeface="Calibri"/>
              </a:rPr>
              <a:t>train on some bacterial species, test on </a:t>
            </a:r>
            <a:r>
              <a:rPr sz="1450" b="1" i="0">
                <a:solidFill>
                  <a:srgbClr val="E0913A"/>
                </a:solidFill>
                <a:latin typeface="Calibri"/>
              </a:rPr>
              <a:t>entirely different ones</a:t>
            </a:r>
            <a:r>
              <a:rPr sz="1450" b="0" i="0">
                <a:solidFill>
                  <a:srgbClr val="12333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E7C86"/>
                </a:solidFill>
                <a:latin typeface="Calibri"/>
              </a:rPr>
              <a:t>—  </a:t>
            </a:r>
            <a:r>
              <a:rPr sz="1450" b="1" i="0">
                <a:solidFill>
                  <a:srgbClr val="12333B"/>
                </a:solidFill>
                <a:latin typeface="Calibri"/>
              </a:rPr>
              <a:t>Why it's hard: </a:t>
            </a:r>
            <a:r>
              <a:rPr sz="1450" b="0" i="0">
                <a:solidFill>
                  <a:srgbClr val="12333B"/>
                </a:solidFill>
                <a:latin typeface="Calibri"/>
              </a:rPr>
              <a:t>the test genes belong to organisms never seen in training, so the model must generalize from </a:t>
            </a:r>
            <a:r>
              <a:rPr sz="1450" b="1" i="0">
                <a:solidFill>
                  <a:srgbClr val="12333B"/>
                </a:solidFill>
                <a:latin typeface="Calibri"/>
              </a:rPr>
              <a:t>protein sequence alone</a:t>
            </a:r>
            <a:r>
              <a:rPr sz="1450" b="0" i="0">
                <a:solidFill>
                  <a:srgbClr val="12333B"/>
                </a:solidFill>
                <a:latin typeface="Calibri"/>
              </a:rPr>
              <a:t> — no prior measurements exist for them.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E7C86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12333B"/>
                </a:solidFill>
                <a:latin typeface="Calibri"/>
              </a:rPr>
              <a:t>Scored by </a:t>
            </a:r>
            <a:r>
              <a:rPr sz="1450" b="1" i="0">
                <a:solidFill>
                  <a:srgbClr val="2A9D8F"/>
                </a:solidFill>
                <a:latin typeface="Calibri"/>
              </a:rPr>
              <a:t>RMSE + MAE</a:t>
            </a:r>
            <a:r>
              <a:rPr sz="1450" b="0" i="0">
                <a:solidFill>
                  <a:srgbClr val="12333B"/>
                </a:solidFill>
                <a:latin typeface="Calibri"/>
              </a:rPr>
              <a:t> (average prediction error). The dream: essentiality for a microbe you've never assayed.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572768"/>
            <a:ext cx="45720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80136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spc="160">
                <a:solidFill>
                  <a:srgbClr val="2A9D8F"/>
                </a:solidFill>
                <a:latin typeface="Calibri"/>
              </a:rPr>
              <a:t>WHOLE-GENOME HOLDOUT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13969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2333B"/>
                </a:solidFill>
                <a:latin typeface="Calibri"/>
              </a:rPr>
              <a:t>TRAIN on many genomes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487168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2498140"/>
            <a:ext cx="12070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Keio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487168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498140"/>
            <a:ext cx="12070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DvH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2487168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2498140"/>
            <a:ext cx="12070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Caulo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944368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955340"/>
            <a:ext cx="12070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Putida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944368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2955340"/>
            <a:ext cx="12070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MR1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2944368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2955340"/>
            <a:ext cx="12070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Btheta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59" y="3447287"/>
            <a:ext cx="91440" cy="384048"/>
          </a:xfrm>
          <a:prstGeom prst="rect">
            <a:avLst/>
          </a:prstGeom>
          <a:solidFill>
            <a:srgbClr val="5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9125711" y="3785615"/>
            <a:ext cx="402336" cy="237744"/>
          </a:xfrm>
          <a:prstGeom prst="triangle">
            <a:avLst/>
          </a:prstGeom>
          <a:solidFill>
            <a:srgbClr val="5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417880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2333B"/>
                </a:solidFill>
                <a:latin typeface="Calibri"/>
              </a:rPr>
              <a:t>TEST on a held-out genome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4498848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4509820"/>
            <a:ext cx="3931920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A2A33"/>
                </a:solidFill>
                <a:latin typeface="Calibri"/>
              </a:rPr>
              <a:t>new species  ·  genes never seen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502920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E6E73"/>
                </a:solidFill>
                <a:latin typeface="Calibri"/>
              </a:rPr>
              <a:t>no training history → predict from sequence alone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E6E73"/>
                </a:solidFill>
                <a:latin typeface="Calibri"/>
              </a:rPr>
              <a:t>Conditional Gene Essentiality  ·  frozen PLM + chemistry → conditional ranking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E6E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 spc="220">
                <a:solidFill>
                  <a:srgbClr val="2A9D8F"/>
                </a:solidFill>
                <a:latin typeface="Calibri"/>
              </a:rPr>
              <a:t>SYSTEMATIC MODEL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381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2333B"/>
                </a:solidFill>
                <a:latin typeface="Georgia"/>
              </a:rPr>
              <a:t>The T pipeline — a pre-registered tier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2333B"/>
                </a:solidFill>
                <a:latin typeface="Calibri"/>
              </a:rPr>
              <a:t>We didn't train one model and stop. </a:t>
            </a:r>
            <a:r>
              <a:rPr sz="1350" b="0" i="0">
                <a:solidFill>
                  <a:srgbClr val="12333B"/>
                </a:solidFill>
                <a:latin typeface="Calibri"/>
              </a:rPr>
              <a:t>Each ‘tier’ isolated ONE design choice, with success criteria fixed in advance and a decision-ledger entry recording the winner.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10625328" cy="566928"/>
          </a:xfrm>
          <a:prstGeom prst="roundRect">
            <a:avLst>
              <a:gd name="adj" fmla="val 12000"/>
            </a:avLst>
          </a:prstGeom>
          <a:solidFill>
            <a:srgbClr val="E7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7C86"/>
                </a:solidFill>
                <a:latin typeface="Calibri"/>
              </a:rPr>
              <a:t>S0–S5  governance &amp; setup:  </a:t>
            </a:r>
            <a:r>
              <a:rPr sz="1200" b="0" i="0">
                <a:solidFill>
                  <a:srgbClr val="12333B"/>
                </a:solidFill>
                <a:latin typeface="Calibri"/>
              </a:rPr>
              <a:t>reproducibility · data characterization · evaluation trust · split lock · feature contract · training recipe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88920"/>
            <a:ext cx="336499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118872" cy="16276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E7C86"/>
                </a:solidFill>
                <a:latin typeface="Georgia"/>
              </a:rPr>
              <a:t>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44952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2333B"/>
                </a:solidFill>
                <a:latin typeface="Calibri"/>
              </a:rPr>
              <a:t>Representation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75303"/>
            <a:ext cx="28620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E6E73"/>
                </a:solidFill>
                <a:latin typeface="Calibri"/>
              </a:rPr>
              <a:t>425-d multihot chemistry wins; fingerprints &amp; metadata don't help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788920"/>
            <a:ext cx="336499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2788920"/>
            <a:ext cx="118872" cy="16276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29718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2A9D8F"/>
                </a:solidFill>
                <a:latin typeface="Georgia"/>
              </a:rPr>
              <a:t>T2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3044952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2333B"/>
                </a:solidFill>
                <a:latin typeface="Calibri"/>
              </a:rPr>
              <a:t>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575303"/>
            <a:ext cx="28620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E6E73"/>
                </a:solidFill>
                <a:latin typeface="Calibri"/>
              </a:rPr>
              <a:t>early-concat shallow MLP beats two-tower &amp; FiLM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2788920"/>
            <a:ext cx="336499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7576" y="2788920"/>
            <a:ext cx="118872" cy="1627632"/>
          </a:xfrm>
          <a:prstGeom prst="rect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9718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E0913A"/>
                </a:solidFill>
                <a:latin typeface="Georgia"/>
              </a:rPr>
              <a:t>T3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044952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2333B"/>
                </a:solidFill>
                <a:latin typeface="Calibri"/>
              </a:rPr>
              <a:t>Capacity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575303"/>
            <a:ext cx="28620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E6E73"/>
                </a:solidFill>
                <a:latin typeface="Calibri"/>
              </a:rPr>
              <a:t>2-layer residual MLP, width 512 — bigger doesn't help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599431"/>
            <a:ext cx="336499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599431"/>
            <a:ext cx="118872" cy="16276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782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E7C86"/>
                </a:solidFill>
                <a:latin typeface="Georgia"/>
              </a:rPr>
              <a:t>T4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85546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2333B"/>
                </a:solidFill>
                <a:latin typeface="Calibri"/>
              </a:rPr>
              <a:t>Optimization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385816"/>
            <a:ext cx="28620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E6E73"/>
                </a:solidFill>
                <a:latin typeface="Calibri"/>
              </a:rPr>
              <a:t>MSE on raw targets; short constant-LR training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4599431"/>
            <a:ext cx="336499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07408" y="4599431"/>
            <a:ext cx="118872" cy="16276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4782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2A9D8F"/>
                </a:solidFill>
                <a:latin typeface="Georgia"/>
              </a:rPr>
              <a:t>T5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85546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2333B"/>
                </a:solidFill>
                <a:latin typeface="Calibri"/>
              </a:rPr>
              <a:t>Embedding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5385816"/>
            <a:ext cx="28620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E6E73"/>
                </a:solidFill>
                <a:latin typeface="Calibri"/>
              </a:rPr>
              <a:t>trainable adapter on ProteomeLM-L8 — first real gain; beats ESM-C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37576" y="4599431"/>
            <a:ext cx="336499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37576" y="4599431"/>
            <a:ext cx="118872" cy="1627632"/>
          </a:xfrm>
          <a:prstGeom prst="rect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11896" y="4782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E0913A"/>
                </a:solidFill>
                <a:latin typeface="Georgia"/>
              </a:rPr>
              <a:t>T6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855464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2333B"/>
                </a:solidFill>
                <a:latin typeface="Calibri"/>
              </a:rPr>
              <a:t>Chemistry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5385816"/>
            <a:ext cx="28620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E6E73"/>
                </a:solidFill>
                <a:latin typeface="Calibri"/>
              </a:rPr>
              <a:t>multihot still beats Morgan / RDKit / MACCS fingerprints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E6E73"/>
                </a:solidFill>
                <a:latin typeface="Calibri"/>
              </a:rPr>
              <a:t>Conditional Gene Essentiality  ·  frozen PLM + chemistry → conditional ranking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E6E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 spc="220">
                <a:solidFill>
                  <a:srgbClr val="2A9D8F"/>
                </a:solidFill>
                <a:latin typeface="Calibri"/>
              </a:rPr>
              <a:t>THE TURNING POINT — WHY WE REFRAMED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381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2333B"/>
                </a:solidFill>
                <a:latin typeface="Georgia"/>
              </a:rPr>
              <a:t>The verdict: optimized error, but no real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6126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E7C86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12333B"/>
                </a:solidFill>
                <a:latin typeface="Calibri"/>
              </a:rPr>
              <a:t>RMSE/MAE were optimized fine across T1–T6 — but the </a:t>
            </a:r>
            <a:r>
              <a:rPr sz="1400" b="1" i="0">
                <a:solidFill>
                  <a:srgbClr val="E0913A"/>
                </a:solidFill>
                <a:latin typeface="Calibri"/>
              </a:rPr>
              <a:t>meaningful quantity failed.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E7C86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0E7C86"/>
                </a:solidFill>
                <a:latin typeface="Calibri"/>
              </a:rPr>
              <a:t>Within-gene ranking</a:t>
            </a:r>
            <a:r>
              <a:rPr sz="1400" b="0" i="0">
                <a:solidFill>
                  <a:srgbClr val="12333B"/>
                </a:solidFill>
                <a:latin typeface="Calibri"/>
              </a:rPr>
              <a:t> of conditions: </a:t>
            </a:r>
            <a:r>
              <a:rPr sz="1400" b="1" i="0">
                <a:solidFill>
                  <a:srgbClr val="E0913A"/>
                </a:solidFill>
                <a:latin typeface="Calibri"/>
              </a:rPr>
              <a:t>≈ 0.045 Spearman</a:t>
            </a:r>
            <a:r>
              <a:rPr sz="1400" b="0" i="0">
                <a:solidFill>
                  <a:srgbClr val="12333B"/>
                </a:solidFill>
                <a:latin typeface="Calibri"/>
              </a:rPr>
              <a:t> vs a ~0.43 replicate noise floor — statistically indistinguishable from random.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E7C86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12333B"/>
                </a:solidFill>
                <a:latin typeface="Calibri"/>
              </a:rPr>
              <a:t>Why RMSE misled us: it is </a:t>
            </a:r>
            <a:r>
              <a:rPr sz="1400" b="1" i="0">
                <a:solidFill>
                  <a:srgbClr val="12333B"/>
                </a:solidFill>
                <a:latin typeface="Calibri"/>
              </a:rPr>
              <a:t>gene-mean-dominated</a:t>
            </a:r>
            <a:r>
              <a:rPr sz="1400" b="0" i="0">
                <a:solidFill>
                  <a:srgbClr val="12333B"/>
                </a:solidFill>
                <a:latin typeface="Calibri"/>
              </a:rPr>
              <a:t> — it rewards predicting each gene's baseline level, not the gene×condition interaction.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E7C86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12333B"/>
                </a:solidFill>
                <a:latin typeface="Calibri"/>
              </a:rPr>
              <a:t>Frozen embeddings carry </a:t>
            </a:r>
            <a:r>
              <a:rPr sz="1400" b="1" i="0">
                <a:solidFill>
                  <a:srgbClr val="12333B"/>
                </a:solidFill>
                <a:latin typeface="Calibri"/>
              </a:rPr>
              <a:t>no transferable conditional signal</a:t>
            </a:r>
            <a:r>
              <a:rPr sz="1400" b="0" i="0">
                <a:solidFill>
                  <a:srgbClr val="12333B"/>
                </a:solidFill>
                <a:latin typeface="Calibri"/>
              </a:rPr>
              <a:t>; ProteomeLM beat raw ESM-C by only RMSE ~0.006.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27632"/>
            <a:ext cx="4297680" cy="3246120"/>
          </a:xfrm>
          <a:prstGeom prst="roundRect">
            <a:avLst>
              <a:gd name="adj" fmla="val 5000"/>
            </a:avLst>
          </a:prstGeom>
          <a:solidFill>
            <a:srgbClr val="0A2A33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9202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 spc="180">
                <a:solidFill>
                  <a:srgbClr val="8AD9CF"/>
                </a:solidFill>
                <a:latin typeface="Calibri"/>
              </a:rPr>
              <a:t>THE HONEST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377440"/>
            <a:ext cx="3703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Predicting the level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4D6D9"/>
                </a:solidFill>
                <a:latin typeface="Calibri"/>
              </a:rPr>
              <a:t>of fitness is easy and gene-mean-dominated.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12333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AD9CF"/>
                </a:solidFill>
                <a:latin typeface="Calibri"/>
              </a:rPr>
              <a:t>Predicting the conditional ordering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4D6D9"/>
                </a:solidFill>
                <a:latin typeface="Calibri"/>
              </a:rPr>
              <a:t>is the real, hard problem — and cross-organism transfer of it is ≈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12080"/>
            <a:ext cx="10652760" cy="603504"/>
          </a:xfrm>
          <a:prstGeom prst="roundRect">
            <a:avLst>
              <a:gd name="adj" fmla="val 12000"/>
            </a:avLst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10241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A2A33"/>
                </a:solidFill>
                <a:latin typeface="Calibri"/>
              </a:rPr>
              <a:t>→ The pivot:  </a:t>
            </a:r>
            <a:r>
              <a:rPr sz="1400" b="0" i="0">
                <a:solidFill>
                  <a:srgbClr val="0A2A33"/>
                </a:solidFill>
                <a:latin typeface="Calibri"/>
              </a:rPr>
              <a:t>narrow the claim to WITHIN-organism, and switch from predicting values to ranking conditions. That defines the rest of the talk.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E6E73"/>
                </a:solidFill>
                <a:latin typeface="Calibri"/>
              </a:rPr>
              <a:t>Conditional Gene Essentiality  ·  frozen PLM + chemistry → conditional 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E6E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 spc="220">
                <a:solidFill>
                  <a:srgbClr val="2A9D8F"/>
                </a:solidFill>
                <a:latin typeface="Calibri"/>
              </a:rPr>
              <a:t>THE R-REGIME ·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381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2333B"/>
                </a:solidFill>
                <a:latin typeface="Georgia"/>
              </a:rPr>
              <a:t>The reframed question, stated precisely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7C86"/>
                </a:solidFill>
                <a:latin typeface="Calibri"/>
              </a:rPr>
              <a:t>Within a known organism</a:t>
            </a:r>
            <a:r>
              <a:rPr sz="1700" b="0" i="0">
                <a:solidFill>
                  <a:srgbClr val="12333B"/>
                </a:solidFill>
                <a:latin typeface="Calibri"/>
              </a:rPr>
              <a:t>, can we rank a gene's conditional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2333B"/>
                </a:solidFill>
                <a:latin typeface="Calibri"/>
              </a:rPr>
              <a:t>essentiality across </a:t>
            </a:r>
            <a:r>
              <a:rPr sz="1700" b="1" i="0">
                <a:solidFill>
                  <a:srgbClr val="0E7C86"/>
                </a:solidFill>
                <a:latin typeface="Calibri"/>
              </a:rPr>
              <a:t>entirely novel conditions</a:t>
            </a:r>
            <a:r>
              <a:rPr sz="1700" b="0" i="0">
                <a:solidFill>
                  <a:srgbClr val="12333B"/>
                </a:solidFill>
                <a:latin typeface="Calibri"/>
              </a:rPr>
              <a:t> — better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2333B"/>
                </a:solidFill>
                <a:latin typeface="Calibri"/>
              </a:rPr>
              <a:t>than a chemistry-similarity baseline that uses condition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2333B"/>
                </a:solidFill>
                <a:latin typeface="Calibri"/>
              </a:rPr>
              <a:t>features but learns no gene-specific interaction?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 i="1">
                <a:solidFill>
                  <a:srgbClr val="5E6E73"/>
                </a:solidFill>
                <a:latin typeface="Calibri"/>
              </a:rPr>
              <a:t>Framed for the biologist: “find the top stressors for this gene.”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554480"/>
            <a:ext cx="40233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78308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 spc="200">
                <a:solidFill>
                  <a:srgbClr val="2A9D8F"/>
                </a:solidFill>
                <a:latin typeface="Calibri"/>
              </a:rPr>
              <a:t>THE INGREDIENTS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2276856"/>
            <a:ext cx="109728" cy="7132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24028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2333B"/>
                </a:solidFill>
                <a:latin typeface="Calibri"/>
              </a:rPr>
              <a:t>Gene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532888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E6E73"/>
                </a:solidFill>
                <a:latin typeface="Calibri"/>
              </a:rPr>
              <a:t>frozen ProteomeLM-L8 embedding (1152-d) — sequence/proteome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3118104"/>
            <a:ext cx="109728" cy="7132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3081528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2333B"/>
                </a:solidFill>
                <a:latin typeface="Calibri"/>
              </a:rPr>
              <a:t>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374136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E6E73"/>
                </a:solidFill>
                <a:latin typeface="Calibri"/>
              </a:rPr>
              <a:t>media + stressor chemistry (425-d multihot over a canonical vocab)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3959352"/>
            <a:ext cx="109728" cy="713232"/>
          </a:xfrm>
          <a:prstGeom prst="rect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922776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2333B"/>
                </a:solidFill>
                <a:latin typeface="Calibri"/>
              </a:rPr>
              <a:t>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215384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E6E73"/>
                </a:solidFill>
                <a:latin typeface="Calibri"/>
              </a:rPr>
              <a:t>Tn-seq fitness; relevance = max(0, −fit) = “this stresses the gene”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4800600"/>
            <a:ext cx="109728" cy="713232"/>
          </a:xfrm>
          <a:prstGeom prst="rect">
            <a:avLst/>
          </a:prstGeom>
          <a:solidFill>
            <a:srgbClr val="0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4764024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2333B"/>
                </a:solidFill>
                <a:latin typeface="Calibri"/>
              </a:rPr>
              <a:t>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056632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E6E73"/>
                </a:solidFill>
                <a:latin typeface="Calibri"/>
              </a:rPr>
              <a:t>within-gene ordering of conditions (Spearman + NDCG@5)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E6E73"/>
                </a:solidFill>
                <a:latin typeface="Calibri"/>
              </a:rPr>
              <a:t>Conditional Gene Essentiality  ·  frozen PLM + chemistry → conditional 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E6E7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 spc="220">
                <a:solidFill>
                  <a:srgbClr val="2A9D8F"/>
                </a:solidFill>
                <a:latin typeface="Calibri"/>
              </a:rPr>
              <a:t>TASK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381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2333B"/>
                </a:solidFill>
                <a:latin typeface="Georgia"/>
              </a:rPr>
              <a:t>Setup: data and the cold-start split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456432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11887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170078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0E7C86"/>
                </a:solidFill>
                <a:latin typeface="Georgia"/>
              </a:rPr>
              <a:t>27.4M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3957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333B"/>
                </a:solidFill>
                <a:latin typeface="Calibri"/>
              </a:rPr>
              <a:t>gene × experiment fitness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7157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E6E73"/>
                </a:solidFill>
                <a:latin typeface="Calibri"/>
              </a:rPr>
              <a:t>Fitness Browser / RB-TnSeq (feba.db)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554480"/>
            <a:ext cx="3456432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554480"/>
            <a:ext cx="118872" cy="1554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170078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2A9D8F"/>
                </a:solidFill>
                <a:latin typeface="Georgia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23957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333B"/>
                </a:solidFill>
                <a:latin typeface="Calibri"/>
              </a:rPr>
              <a:t>organisms with replicate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7157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E6E73"/>
                </a:solidFill>
                <a:latin typeface="Calibri"/>
              </a:rPr>
              <a:t>for the full within-org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6" y="1554480"/>
            <a:ext cx="3456432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6" y="1554480"/>
            <a:ext cx="118872" cy="1554480"/>
          </a:xfrm>
          <a:prstGeom prst="rect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170078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E0913A"/>
                </a:solidFill>
                <a:latin typeface="Georgia"/>
              </a:rPr>
              <a:t>0 / 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3957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333B"/>
                </a:solidFill>
                <a:latin typeface="Calibri"/>
              </a:rPr>
              <a:t>train↔val condition overlap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7157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E6E73"/>
                </a:solidFill>
                <a:latin typeface="Calibri"/>
              </a:rPr>
              <a:t>held-out conditions are 100% disjoint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E7C86"/>
                </a:solidFill>
                <a:latin typeface="Georgia"/>
              </a:rPr>
              <a:t>Why the split makes this hard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E7C86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2333B"/>
                </a:solidFill>
                <a:latin typeface="Calibri"/>
              </a:rPr>
              <a:t>Condition-holdout: </a:t>
            </a:r>
            <a:r>
              <a:rPr sz="1400" b="0" i="0">
                <a:solidFill>
                  <a:srgbClr val="12333B"/>
                </a:solidFill>
                <a:latin typeface="Calibri"/>
              </a:rPr>
              <a:t>we hold out whole conditions, replicate-grouped and stratified by stressor group — val conditions are never seen in train.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E7C86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2333B"/>
                </a:solidFill>
                <a:latin typeface="Calibri"/>
              </a:rPr>
              <a:t>Cold columns: </a:t>
            </a:r>
            <a:r>
              <a:rPr sz="1400" b="0" i="0">
                <a:solidFill>
                  <a:srgbClr val="12333B"/>
                </a:solidFill>
                <a:latin typeface="Calibri"/>
              </a:rPr>
              <a:t>a held-out condition has zero observed entries, so vanilla collaborative matrix factorization cannot place it. You genuinely need condition side-features (chemistry).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E7C86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12333B"/>
                </a:solidFill>
                <a:latin typeface="Calibri"/>
              </a:rPr>
              <a:t>So this is </a:t>
            </a:r>
            <a:r>
              <a:rPr sz="1400" b="1" i="0">
                <a:solidFill>
                  <a:srgbClr val="0E7C86"/>
                </a:solidFill>
                <a:latin typeface="Calibri"/>
              </a:rPr>
              <a:t>inductive (cold-start) matrix completion with side information</a:t>
            </a:r>
            <a:r>
              <a:rPr sz="1400" b="0" i="0">
                <a:solidFill>
                  <a:srgbClr val="12333B"/>
                </a:solidFill>
                <a:latin typeface="Calibri"/>
              </a:rPr>
              <a:t> — harder and more defensible than warm-cell completion.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E6E73"/>
                </a:solidFill>
                <a:latin typeface="Calibri"/>
              </a:rPr>
              <a:t>Conditional Gene Essentiality  ·  frozen PLM + chemistry → conditional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E6E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 spc="220">
                <a:solidFill>
                  <a:srgbClr val="2A9D8F"/>
                </a:solidFill>
                <a:latin typeface="Calibri"/>
              </a:rPr>
              <a:t>EVALUATION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381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2333B"/>
                </a:solidFill>
                <a:latin typeface="Georgia"/>
              </a:rPr>
              <a:t>How we measure — and the baseline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E7C86"/>
                </a:solidFill>
                <a:latin typeface="Georgia"/>
              </a:rPr>
              <a:t>Co-primary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0E7C86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12333B"/>
                </a:solidFill>
                <a:latin typeface="Calibri"/>
              </a:rPr>
              <a:t>within-gene Spearman</a:t>
            </a:r>
            <a:r>
              <a:rPr sz="1350" b="0" i="0">
                <a:solidFill>
                  <a:srgbClr val="12333B"/>
                </a:solidFill>
                <a:latin typeface="Calibri"/>
              </a:rPr>
              <a:t>  +  </a:t>
            </a:r>
            <a:r>
              <a:rPr sz="1350" b="1" i="0">
                <a:solidFill>
                  <a:srgbClr val="12333B"/>
                </a:solidFill>
                <a:latin typeface="Calibri"/>
              </a:rPr>
              <a:t>NDCG@5</a:t>
            </a:r>
            <a:r>
              <a:rPr sz="1350" b="0" i="0">
                <a:solidFill>
                  <a:srgbClr val="12333B"/>
                </a:solidFill>
                <a:latin typeface="Calibri"/>
              </a:rPr>
              <a:t>  (“top stressors”)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0E7C86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12333B"/>
                </a:solidFill>
                <a:latin typeface="Calibri"/>
              </a:rPr>
              <a:t>Hierarchical org→gene bootstrap; promotion needs </a:t>
            </a:r>
            <a:r>
              <a:rPr sz="1350" b="1" i="0">
                <a:solidFill>
                  <a:srgbClr val="E0913A"/>
                </a:solidFill>
                <a:latin typeface="Calibri"/>
              </a:rPr>
              <a:t>ΔNDCG@5 ≳ 0.026</a:t>
            </a:r>
            <a:r>
              <a:rPr sz="1350" b="0" i="0">
                <a:solidFill>
                  <a:srgbClr val="12333B"/>
                </a:solidFill>
                <a:latin typeface="Calibri"/>
              </a:rPr>
              <a:t> over the gate, CIs disjoint.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E7C86"/>
                </a:solidFill>
                <a:latin typeface="Georgia"/>
              </a:rPr>
              <a:t>Four reference bars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E7C86"/>
                </a:solidFill>
                <a:latin typeface="Calibri"/>
              </a:rPr>
              <a:t>—  </a:t>
            </a:r>
            <a:r>
              <a:rPr sz="1300" b="1" i="0">
                <a:solidFill>
                  <a:srgbClr val="5E6E73"/>
                </a:solidFill>
                <a:latin typeface="Calibri"/>
              </a:rPr>
              <a:t>chem-NULL</a:t>
            </a:r>
            <a:r>
              <a:rPr sz="1300" b="0" i="0">
                <a:solidFill>
                  <a:srgbClr val="12333B"/>
                </a:solidFill>
                <a:latin typeface="Calibri"/>
              </a:rPr>
              <a:t> — population profile, no gene specificity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E7C86"/>
                </a:solidFill>
                <a:latin typeface="Calibri"/>
              </a:rPr>
              <a:t>—  </a:t>
            </a:r>
            <a:r>
              <a:rPr sz="1300" b="1" i="0">
                <a:solidFill>
                  <a:srgbClr val="2A9D8F"/>
                </a:solidFill>
                <a:latin typeface="Calibri"/>
              </a:rPr>
              <a:t>linear-MF</a:t>
            </a:r>
            <a:r>
              <a:rPr sz="1300" b="0" i="0">
                <a:solidFill>
                  <a:srgbClr val="12333B"/>
                </a:solidFill>
                <a:latin typeface="Calibri"/>
              </a:rPr>
              <a:t> — a learned, fitness-aware gene latent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E7C86"/>
                </a:solidFill>
                <a:latin typeface="Calibri"/>
              </a:rPr>
              <a:t>—  </a:t>
            </a:r>
            <a:r>
              <a:rPr sz="1300" b="1" i="0">
                <a:solidFill>
                  <a:srgbClr val="E0913A"/>
                </a:solidFill>
                <a:latin typeface="Calibri"/>
              </a:rPr>
              <a:t>chem-kNN</a:t>
            </a:r>
            <a:r>
              <a:rPr sz="1300" b="0" i="0">
                <a:solidFill>
                  <a:srgbClr val="12333B"/>
                </a:solidFill>
                <a:latin typeface="Calibri"/>
              </a:rPr>
              <a:t> — the gene's OWN history at near chemistries (the gate)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E7C86"/>
                </a:solidFill>
                <a:latin typeface="Calibri"/>
              </a:rPr>
              <a:t>—  </a:t>
            </a:r>
            <a:r>
              <a:rPr sz="1300" b="1" i="0">
                <a:solidFill>
                  <a:srgbClr val="0A2A33"/>
                </a:solidFill>
                <a:latin typeface="Calibri"/>
              </a:rPr>
              <a:t>ceiling</a:t>
            </a:r>
            <a:r>
              <a:rPr sz="1300" b="0" i="0">
                <a:solidFill>
                  <a:srgbClr val="12333B"/>
                </a:solidFill>
                <a:latin typeface="Calibri"/>
              </a:rPr>
              <a:t> — biological-replicate agreement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00200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0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160020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00200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Spearman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1600200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NDCG@5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167128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167128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333B"/>
                </a:solidFill>
                <a:latin typeface="Calibri"/>
              </a:rPr>
              <a:t>chem-NULL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167128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333B"/>
                </a:solidFill>
                <a:latin typeface="Calibri"/>
              </a:rPr>
              <a:t>0.02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2167128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333B"/>
                </a:solidFill>
                <a:latin typeface="Calibri"/>
              </a:rPr>
              <a:t>0.31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734056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2734056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333B"/>
                </a:solidFill>
                <a:latin typeface="Calibri"/>
              </a:rPr>
              <a:t>deep model (frozen emb + chem)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734056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333B"/>
                </a:solidFill>
                <a:latin typeface="Calibri"/>
              </a:rPr>
              <a:t>0.13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2734056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333B"/>
                </a:solidFill>
                <a:latin typeface="Calibri"/>
              </a:rPr>
              <a:t>0.42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300984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300984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333B"/>
                </a:solidFill>
                <a:latin typeface="Calibri"/>
              </a:rPr>
              <a:t>linear-MF (learned latent)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300984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333B"/>
                </a:solidFill>
                <a:latin typeface="Calibri"/>
              </a:rPr>
              <a:t>0.14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3300984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2333B"/>
                </a:solidFill>
                <a:latin typeface="Calibri"/>
              </a:rPr>
              <a:t>0.43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867912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3867912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A2A33"/>
                </a:solidFill>
                <a:latin typeface="Calibri"/>
              </a:rPr>
              <a:t>chem-kNN  ◂ the baseline to beat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867912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A2A33"/>
                </a:solidFill>
                <a:latin typeface="Calibri"/>
              </a:rPr>
              <a:t>0.24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3867912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A2A33"/>
                </a:solidFill>
                <a:latin typeface="Calibri"/>
              </a:rPr>
              <a:t>0.485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4434840"/>
            <a:ext cx="5029200" cy="502920"/>
          </a:xfrm>
          <a:prstGeom prst="roundRect">
            <a:avLst>
              <a:gd name="adj" fmla="val 8000"/>
            </a:avLst>
          </a:prstGeom>
          <a:solidFill>
            <a:srgbClr val="E7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39128" y="443484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2333B"/>
                </a:solidFill>
                <a:latin typeface="Calibri"/>
              </a:rPr>
              <a:t>replicate ceiling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434840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2333B"/>
                </a:solidFill>
                <a:latin typeface="Calibri"/>
              </a:rPr>
              <a:t>0.39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4434840"/>
            <a:ext cx="868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2333B"/>
                </a:solidFill>
                <a:latin typeface="Calibri"/>
              </a:rPr>
              <a:t>0.66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E6E73"/>
                </a:solidFill>
                <a:latin typeface="Calibri"/>
              </a:rPr>
              <a:t>Conditional Gene Essentiality  ·  frozen PLM + chemistry → conditional ranking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E6E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 spc="220">
                <a:solidFill>
                  <a:srgbClr val="2A9D8F"/>
                </a:solidFill>
                <a:latin typeface="Calibri"/>
              </a:rPr>
              <a:t>THREE INDEPENDENT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381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2333B"/>
                </a:solidFill>
                <a:latin typeface="Georgia"/>
              </a:rPr>
              <a:t>Finding 1 — encoder, objective, capacity: all fail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49300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3493008" cy="566928"/>
          </a:xfrm>
          <a:prstGeom prst="roundRect">
            <a:avLst>
              <a:gd name="adj" fmla="val 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3493008" cy="24688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5448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spc="120">
                <a:solidFill>
                  <a:srgbClr val="FFFFFF"/>
                </a:solidFill>
                <a:latin typeface="Calibri"/>
              </a:rPr>
              <a:t>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1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95728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333B"/>
                </a:solidFill>
                <a:latin typeface="Calibri"/>
              </a:rPr>
              <a:t>multihot vs Morgan / RDKit /
MACCS fingerprints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290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E6E73"/>
                </a:solidFill>
                <a:latin typeface="Calibri"/>
              </a:rPr>
              <a:t>6 arms × 3 seeds × 23 orgs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886200"/>
            <a:ext cx="2944368" cy="18288"/>
          </a:xfrm>
          <a:prstGeom prst="rect">
            <a:avLst/>
          </a:prstGeom>
          <a:solidFill>
            <a:srgbClr val="DBD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0913A"/>
                </a:solidFill>
                <a:latin typeface="Calibri"/>
              </a:rPr>
              <a:t>✗  </a:t>
            </a:r>
            <a:r>
              <a:rPr sz="1250" b="1" i="0">
                <a:solidFill>
                  <a:srgbClr val="12333B"/>
                </a:solidFill>
                <a:latin typeface="Calibri"/>
              </a:rPr>
              <a:t>best 0.422 — fingerprints don't help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554480"/>
            <a:ext cx="349300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07408" y="1554480"/>
            <a:ext cx="3493008" cy="566928"/>
          </a:xfrm>
          <a:prstGeom prst="roundRect">
            <a:avLst>
              <a:gd name="adj" fmla="val 5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1874519"/>
            <a:ext cx="3493008" cy="24688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155448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spc="12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1554480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1">
                <a:solidFill>
                  <a:srgbClr val="FFFFFF"/>
                </a:solidFill>
                <a:latin typeface="Calibri"/>
              </a:rPr>
              <a:t>R-LOSS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395728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333B"/>
                </a:solidFill>
                <a:latin typeface="Calibri"/>
              </a:rPr>
              <a:t>MSE, Huber, RankNet,
LambdaRank, ListMLE, ApproxNDCG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4290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E6E73"/>
                </a:solidFill>
                <a:latin typeface="Calibri"/>
              </a:rPr>
              <a:t>6 loss families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1728" y="3886200"/>
            <a:ext cx="2944368" cy="18288"/>
          </a:xfrm>
          <a:prstGeom prst="rect">
            <a:avLst/>
          </a:prstGeom>
          <a:solidFill>
            <a:srgbClr val="DBD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40690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0913A"/>
                </a:solidFill>
                <a:latin typeface="Calibri"/>
              </a:rPr>
              <a:t>✗  </a:t>
            </a:r>
            <a:r>
              <a:rPr sz="1250" b="1" i="0">
                <a:solidFill>
                  <a:srgbClr val="12333B"/>
                </a:solidFill>
                <a:latin typeface="Calibri"/>
              </a:rPr>
              <a:t>best (Huber) 0.435 — ranking losses lose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7576" y="1554480"/>
            <a:ext cx="349300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37576" y="1554480"/>
            <a:ext cx="3493008" cy="566928"/>
          </a:xfrm>
          <a:prstGeom prst="roundRect">
            <a:avLst>
              <a:gd name="adj" fmla="val 5000"/>
            </a:avLst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6" y="1874519"/>
            <a:ext cx="3493008" cy="246888"/>
          </a:xfrm>
          <a:prstGeom prst="rect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155448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spc="120">
                <a:solidFill>
                  <a:srgbClr val="FFFFFF"/>
                </a:solidFill>
                <a:latin typeface="Calibri"/>
              </a:rPr>
              <a:t>CAPACITY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9336" y="1554480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2395728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2333B"/>
                </a:solidFill>
                <a:latin typeface="Calibri"/>
              </a:rPr>
              <a:t>linear-MF (~13k params) vs
deep MLP (2.5M params)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34290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E6E73"/>
                </a:solidFill>
                <a:latin typeface="Calibri"/>
              </a:rPr>
              <a:t>bilinear vs nonlinear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1896" y="3886200"/>
            <a:ext cx="2944368" cy="18288"/>
          </a:xfrm>
          <a:prstGeom prst="rect">
            <a:avLst/>
          </a:prstGeom>
          <a:solidFill>
            <a:srgbClr val="DBD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40690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0913A"/>
                </a:solidFill>
                <a:latin typeface="Calibri"/>
              </a:rPr>
              <a:t>✗  </a:t>
            </a:r>
            <a:r>
              <a:rPr sz="1250" b="1" i="0">
                <a:solidFill>
                  <a:srgbClr val="12333B"/>
                </a:solidFill>
                <a:latin typeface="Calibri"/>
              </a:rPr>
              <a:t>linear ≈ deep — capacity buys nothing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40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2333B"/>
                </a:solidFill>
                <a:latin typeface="Calibri"/>
              </a:rPr>
              <a:t>Every global parametric model plateaus at NDCG@5 ≈ 0.42–0.44.  </a:t>
            </a:r>
            <a:r>
              <a:rPr sz="1450" b="1" i="0">
                <a:solidFill>
                  <a:srgbClr val="E0913A"/>
                </a:solidFill>
                <a:latin typeface="Calibri"/>
              </a:rPr>
              <a:t>None beats the chem-kNN gate (0.485).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E6E73"/>
                </a:solidFill>
                <a:latin typeface="Calibri"/>
              </a:rPr>
              <a:t>Conditional Gene Essentiality  ·  frozen PLM + chemistry → conditional ranking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E6E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8A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 spc="220">
                <a:solidFill>
                  <a:srgbClr val="8AD9CF"/>
                </a:solidFill>
                <a:latin typeface="Calibri"/>
              </a:rPr>
              <a:t>WHY THE LOOKUP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381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The mechanism: local vs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943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8AD9CF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DCE8EA"/>
                </a:solidFill>
                <a:latin typeface="Calibri"/>
              </a:rPr>
              <a:t>The population / cross-gene pattern carries </a:t>
            </a:r>
            <a:r>
              <a:rPr sz="1500" b="1" i="0">
                <a:solidFill>
                  <a:srgbClr val="8AD9CF"/>
                </a:solidFill>
                <a:latin typeface="Calibri"/>
              </a:rPr>
              <a:t>≈ 0 within-gene signal</a:t>
            </a:r>
            <a:r>
              <a:rPr sz="1500" b="0" i="0">
                <a:solidFill>
                  <a:srgbClr val="DCE8EA"/>
                </a:solidFill>
                <a:latin typeface="Calibri"/>
              </a:rPr>
              <a:t> (chem-NULL).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8AD9CF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DCE8EA"/>
                </a:solidFill>
                <a:latin typeface="Calibri"/>
              </a:rPr>
              <a:t>So all the signal lives in each gene's </a:t>
            </a:r>
            <a:r>
              <a:rPr sz="1500" b="1" i="0">
                <a:solidFill>
                  <a:srgbClr val="8AD9CF"/>
                </a:solidFill>
                <a:latin typeface="Calibri"/>
              </a:rPr>
              <a:t>own deviations</a:t>
            </a:r>
            <a:r>
              <a:rPr sz="1500" b="0" i="0">
                <a:solidFill>
                  <a:srgbClr val="DCE8EA"/>
                </a:solidFill>
                <a:latin typeface="Calibri"/>
              </a:rPr>
              <a:t> from the bulk.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8AD9CF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DCE8EA"/>
                </a:solidFill>
                <a:latin typeface="Calibri"/>
              </a:rPr>
              <a:t>A global model minimizing average error over ~54k genes captures the bulk and </a:t>
            </a:r>
            <a:r>
              <a:rPr sz="1500" b="1" i="0">
                <a:solidFill>
                  <a:srgbClr val="E0913A"/>
                </a:solidFill>
                <a:latin typeface="Calibri"/>
              </a:rPr>
              <a:t>averages those idiosyncratic deviations away</a:t>
            </a:r>
            <a:r>
              <a:rPr sz="1500" b="0" i="0">
                <a:solidFill>
                  <a:srgbClr val="DCE8EA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8AD9CF"/>
                </a:solidFill>
                <a:latin typeface="Calibri"/>
              </a:rPr>
              <a:t>—  </a:t>
            </a:r>
            <a:r>
              <a:rPr sz="1500" b="1" i="0">
                <a:solidFill>
                  <a:srgbClr val="8AD9CF"/>
                </a:solidFill>
                <a:latin typeface="Calibri"/>
              </a:rPr>
              <a:t>kNN </a:t>
            </a:r>
            <a:r>
              <a:rPr sz="1500" b="0" i="0">
                <a:solidFill>
                  <a:srgbClr val="DCE8EA"/>
                </a:solidFill>
                <a:latin typeface="Calibri"/>
              </a:rPr>
              <a:t>preserves</a:t>
            </a:r>
            <a:r>
              <a:rPr sz="1500" b="0" i="0">
                <a:solidFill>
                  <a:srgbClr val="DCE8EA"/>
                </a:solidFill>
                <a:latin typeface="Calibri"/>
              </a:rPr>
              <a:t> them — it reads each gene's actual history and interpolates by chemistry similarity.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00200"/>
            <a:ext cx="4572000" cy="3977639"/>
          </a:xfrm>
          <a:prstGeom prst="roundRect">
            <a:avLst>
              <a:gd name="adj" fmla="val 6000"/>
            </a:avLst>
          </a:prstGeom>
          <a:solidFill>
            <a:srgbClr val="10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0" y="1600200"/>
            <a:ext cx="118872" cy="3977639"/>
          </a:xfrm>
          <a:prstGeom prst="rect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87451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 spc="200">
                <a:solidFill>
                  <a:srgbClr val="E0913A"/>
                </a:solidFill>
                <a:latin typeface="Calibri"/>
              </a:rPr>
              <a:t>THE ANALOGY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286000"/>
            <a:ext cx="4069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Global model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4D6D9"/>
                </a:solidFill>
                <a:latin typeface="Calibri"/>
              </a:rPr>
              <a:t>= a doctor predicting a never-seen patient from their “type.”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657600"/>
            <a:ext cx="4069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8AD9CF"/>
                </a:solidFill>
                <a:latin typeface="Calibri"/>
              </a:rPr>
              <a:t>chem-kNN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4D6D9"/>
                </a:solidFill>
                <a:latin typeface="Calibri"/>
              </a:rPr>
              <a:t>= a doctor holding that patient's full chart, predicting from the most similar past situations for that patient.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5074920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8AD9CF"/>
                </a:solidFill>
                <a:latin typeface="Calibri"/>
              </a:rPr>
              <a:t>When the chart exists and is idiosyncratic, the second wins.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D9CF"/>
                </a:solidFill>
                <a:latin typeface="Calibri"/>
              </a:rPr>
              <a:t>Conditional Gene Essentiality  ·  frozen PLM + chemistry → conditional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AD9C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 spc="220">
                <a:solidFill>
                  <a:srgbClr val="2A9D8F"/>
                </a:solidFill>
                <a:latin typeface="Calibri"/>
              </a:rPr>
              <a:t>GLOBAL + LOCAL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381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2333B"/>
                </a:solidFill>
                <a:latin typeface="Georgia"/>
              </a:rPr>
              <a:t>Finding 2 — hybrids don't beat the lookup either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2333B"/>
                </a:solidFill>
                <a:latin typeface="Calibri"/>
              </a:rPr>
              <a:t>If the model carries </a:t>
            </a:r>
            <a:r>
              <a:rPr sz="1450" b="1" i="0">
                <a:solidFill>
                  <a:srgbClr val="0E7C86"/>
                </a:solidFill>
                <a:latin typeface="Calibri"/>
              </a:rPr>
              <a:t>complementary</a:t>
            </a:r>
            <a:r>
              <a:rPr sz="1450" b="0" i="0">
                <a:solidFill>
                  <a:srgbClr val="12333B"/>
                </a:solidFill>
                <a:latin typeface="Calibri"/>
              </a:rPr>
              <a:t> signal, a learned hybrid of (global model + chem-kNN) should beat the gate. We tried four fusions across two rounds.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0652760" cy="530352"/>
          </a:xfrm>
          <a:prstGeom prst="roundRect">
            <a:avLst>
              <a:gd name="adj" fmla="val 6000"/>
            </a:avLst>
          </a:prstGeom>
          <a:solidFill>
            <a:srgbClr val="0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3108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286000"/>
            <a:ext cx="3566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286000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Δ NDCG@5 vs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286000"/>
            <a:ext cx="178307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89504"/>
            <a:ext cx="106527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89504"/>
            <a:ext cx="3108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2333B"/>
                </a:solidFill>
                <a:latin typeface="Calibri"/>
              </a:rPr>
              <a:t>R-HYBRID-A · static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889504"/>
            <a:ext cx="3566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2333B"/>
                </a:solidFill>
                <a:latin typeface="Calibri"/>
              </a:rPr>
              <a:t>z-scored convex blend, held-out 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889504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+0.008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889504"/>
            <a:ext cx="178307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2333B"/>
                </a:solidFill>
                <a:latin typeface="Calibri"/>
              </a:rPr>
              <a:t>below 0.026 delta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93008"/>
            <a:ext cx="106527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493008"/>
            <a:ext cx="3108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2333B"/>
                </a:solidFill>
                <a:latin typeface="Calibri"/>
              </a:rPr>
              <a:t>R-HYBRID-B · residual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493008"/>
            <a:ext cx="3566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2333B"/>
                </a:solidFill>
                <a:latin typeface="Calibri"/>
              </a:rPr>
              <a:t>model predicts kNN's LOO residual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493008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0913A"/>
                </a:solidFill>
                <a:latin typeface="Calibri"/>
              </a:rPr>
              <a:t>+0.0002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493008"/>
            <a:ext cx="178307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2333B"/>
                </a:solidFill>
                <a:latin typeface="Calibri"/>
              </a:rPr>
              <a:t>tie; sign-flips by seed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106527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096512"/>
            <a:ext cx="3108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2333B"/>
                </a:solidFill>
                <a:latin typeface="Calibri"/>
              </a:rPr>
              <a:t>R-HYBRID-B · retrieval-augmented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096512"/>
            <a:ext cx="3566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2333B"/>
                </a:solidFill>
                <a:latin typeface="Calibri"/>
              </a:rPr>
              <a:t>feed gene's k-nearest fits to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096512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0913A"/>
                </a:solidFill>
                <a:latin typeface="Calibri"/>
              </a:rPr>
              <a:t>−0.0059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096512"/>
            <a:ext cx="178307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2333B"/>
                </a:solidFill>
                <a:latin typeface="Calibri"/>
              </a:rPr>
              <a:t>regresses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00016"/>
            <a:ext cx="106527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700016"/>
            <a:ext cx="3108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2333B"/>
                </a:solidFill>
                <a:latin typeface="Calibri"/>
              </a:rPr>
              <a:t>R-HYBRID-B · learned gating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700016"/>
            <a:ext cx="3566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2333B"/>
                </a:solidFill>
                <a:latin typeface="Calibri"/>
              </a:rPr>
              <a:t>per-cell α(gene, condition)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700016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0913A"/>
                </a:solidFill>
                <a:latin typeface="Calibri"/>
              </a:rPr>
              <a:t>−0.0081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700016"/>
            <a:ext cx="178307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2333B"/>
                </a:solidFill>
                <a:latin typeface="Calibri"/>
              </a:rPr>
              <a:t>regresses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40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E0913A"/>
                </a:solidFill>
                <a:latin typeface="Calibri"/>
              </a:rPr>
              <a:t>Three orthogonal fusions converge on ≈ 0.  </a:t>
            </a:r>
            <a:r>
              <a:rPr sz="1450" b="1" i="0">
                <a:solidFill>
                  <a:srgbClr val="12333B"/>
                </a:solidFill>
                <a:latin typeface="Calibri"/>
              </a:rPr>
              <a:t>The complementary signal is real but tiny — not promotable.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E6E73"/>
                </a:solidFill>
                <a:latin typeface="Calibri"/>
              </a:rPr>
              <a:t>Conditional Gene Essentiality  ·  frozen PLM + chemistry → conditional ranking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E6E7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 spc="220">
                <a:solidFill>
                  <a:srgbClr val="2A9D8F"/>
                </a:solidFill>
                <a:latin typeface="Calibri"/>
              </a:rPr>
              <a:t>R-CONF · CONFIDENCE STRATIFICATION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381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2333B"/>
                </a:solidFill>
                <a:latin typeface="Georgia"/>
              </a:rPr>
              <a:t>Finding 3 — and it's NOT just label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2333B"/>
                </a:solidFill>
                <a:latin typeface="Calibri"/>
              </a:rPr>
              <a:t>Objection: “your labels are noisy, the metric is measuring noise.”  We stratified val genes by measurement confidence (|t|, the Wetmore moderated-t).</a:t>
            </a:r>
          </a:p>
        </p:txBody>
      </p:sp>
      <p:pic>
        <p:nvPicPr>
          <p:cNvPr id="7" name="Picture 6" descr="01_confidence_strat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57400"/>
            <a:ext cx="7772400" cy="291428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2057400"/>
            <a:ext cx="7772400" cy="2914285"/>
          </a:xfrm>
          <a:prstGeom prst="rect">
            <a:avLst/>
          </a:prstGeom>
          <a:noFill/>
          <a:ln w="12700">
            <a:solidFill>
              <a:srgbClr val="DB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2011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 spc="180">
                <a:solidFill>
                  <a:srgbClr val="2A9D8F"/>
                </a:solidFill>
                <a:latin typeface="Calibri"/>
              </a:rPr>
              <a:t>WHAT IT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377440"/>
            <a:ext cx="2788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7C8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2333B"/>
                </a:solidFill>
                <a:latin typeface="Calibri"/>
              </a:rPr>
              <a:t>kNN beats the model in </a:t>
            </a:r>
            <a:r>
              <a:rPr sz="1200" b="1" i="0">
                <a:solidFill>
                  <a:srgbClr val="E0913A"/>
                </a:solidFill>
                <a:latin typeface="Calibri"/>
              </a:rPr>
              <a:t>every</a:t>
            </a:r>
            <a:r>
              <a:rPr sz="1200" b="0" i="0">
                <a:solidFill>
                  <a:srgbClr val="12333B"/>
                </a:solidFill>
                <a:latin typeface="Calibri"/>
              </a:rPr>
              <a:t> confidence stratum.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7C8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2333B"/>
                </a:solidFill>
                <a:latin typeface="Calibri"/>
              </a:rPr>
              <a:t>Gap narrows (0.055→0.040) but </a:t>
            </a:r>
            <a:r>
              <a:rPr sz="1200" b="1" i="0">
                <a:solidFill>
                  <a:srgbClr val="E0913A"/>
                </a:solidFill>
                <a:latin typeface="Calibri"/>
              </a:rPr>
              <a:t>never closes</a:t>
            </a:r>
            <a:r>
              <a:rPr sz="1200" b="0" i="0">
                <a:solidFill>
                  <a:srgbClr val="12333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7C8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2333B"/>
                </a:solidFill>
                <a:latin typeface="Calibri"/>
              </a:rPr>
              <a:t>Noise is real: ceiling rises 0.59→0.83 with |t|.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7C86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12333B"/>
                </a:solidFill>
                <a:latin typeface="Calibri"/>
              </a:rPr>
              <a:t>t-weighted training </a:t>
            </a:r>
            <a:r>
              <a:rPr sz="1200" b="1" i="0">
                <a:solidFill>
                  <a:srgbClr val="5E6E73"/>
                </a:solidFill>
                <a:latin typeface="Calibri"/>
              </a:rPr>
              <a:t>Δ ≈ −0.004</a:t>
            </a:r>
            <a:r>
              <a:rPr sz="1200" b="0" i="0">
                <a:solidFill>
                  <a:srgbClr val="12333B"/>
                </a:solidFill>
                <a:latin typeface="Calibri"/>
              </a:rPr>
              <a:t> (no help).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806440"/>
            <a:ext cx="10652760" cy="566928"/>
          </a:xfrm>
          <a:prstGeom prst="roundRect">
            <a:avLst>
              <a:gd name="adj" fmla="val 12000"/>
            </a:avLst>
          </a:prstGeom>
          <a:solidFill>
            <a:srgbClr val="E7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80644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7C86"/>
                </a:solidFill>
                <a:latin typeface="Calibri"/>
              </a:rPr>
              <a:t>The negative is structural, not a measurement artifact</a:t>
            </a:r>
            <a:r>
              <a:rPr sz="1400" b="0" i="0">
                <a:solidFill>
                  <a:srgbClr val="12333B"/>
                </a:solidFill>
                <a:latin typeface="Calibri"/>
              </a:rPr>
              <a:t> — the model loses to lookup even on the cleanest-measured genes.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E6E73"/>
                </a:solidFill>
                <a:latin typeface="Calibri"/>
              </a:rPr>
              <a:t>Conditional Gene Essentiality  ·  frozen PLM + chemistry → conditional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E6E7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 spc="220">
                <a:solidFill>
                  <a:srgbClr val="2A9D8F"/>
                </a:solidFill>
                <a:latin typeface="Calibri"/>
              </a:rPr>
              <a:t>SUMMARY OF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381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2333B"/>
                </a:solidFill>
                <a:latin typeface="Georgia"/>
              </a:rPr>
              <a:t>What is durably established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28523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118872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" y="1792224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922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755648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2333B"/>
                </a:solidFill>
                <a:latin typeface="Calibri"/>
              </a:rPr>
              <a:t>Modest, real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2121408"/>
            <a:ext cx="4233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E6E73"/>
                </a:solidFill>
                <a:latin typeface="Calibri"/>
              </a:rPr>
              <a:t>Conditional essentiality has a within-gene signal, but the ceiling is low — replicates agree only at NDCG@5 ~0.66. A noisy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554480"/>
            <a:ext cx="528523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554480"/>
            <a:ext cx="118872" cy="14813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1792224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922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55648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2333B"/>
                </a:solidFill>
                <a:latin typeface="Calibri"/>
              </a:rPr>
              <a:t>Local &amp; gene-idiosyncratic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121408"/>
            <a:ext cx="4233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E6E73"/>
                </a:solidFill>
                <a:latin typeface="Calibri"/>
              </a:rPr>
              <a:t>Population/cross-gene structure ≈ 0 within-gene signal; each gene's own history carries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145536"/>
            <a:ext cx="528523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145536"/>
            <a:ext cx="118872" cy="1481328"/>
          </a:xfrm>
          <a:prstGeom prst="rect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9848" y="3383280"/>
            <a:ext cx="384048" cy="384048"/>
          </a:xfrm>
          <a:prstGeom prst="ellipse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33832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3346704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2333B"/>
                </a:solidFill>
                <a:latin typeface="Calibri"/>
              </a:rPr>
              <a:t>No cross-org transfer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3712464"/>
            <a:ext cx="4233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E6E73"/>
                </a:solidFill>
                <a:latin typeface="Calibri"/>
              </a:rPr>
              <a:t>Frozen embeddings carry no transferable conditional-response information (Spearman ≈ noise).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145536"/>
            <a:ext cx="528523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91072" y="3145536"/>
            <a:ext cx="118872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338328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3832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346704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2333B"/>
                </a:solidFill>
                <a:latin typeface="Calibri"/>
              </a:rPr>
              <a:t>kNN is the strong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712464"/>
            <a:ext cx="4233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E6E73"/>
                </a:solidFill>
                <a:latin typeface="Calibri"/>
              </a:rPr>
              <a:t>A chemistry-similarity lookup (0.485) beats every learned global model — across encoders, objectives, capacities, frozen &amp; learned-fitness-aware reps, alone &amp; hybridized.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736592"/>
            <a:ext cx="528523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736592"/>
            <a:ext cx="118872" cy="14813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9848" y="4974336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" y="4974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4937760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2333B"/>
                </a:solidFill>
                <a:latin typeface="Calibri"/>
              </a:rPr>
              <a:t>Memorization-dominated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8488" y="5303520"/>
            <a:ext cx="4233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E6E73"/>
                </a:solidFill>
                <a:latin typeface="Calibri"/>
              </a:rPr>
              <a:t>The useful product — rank a known gene's stressors in a known organism — is achievable via lookup. Deep learning, as configured, adds nothing over 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4736592"/>
            <a:ext cx="528523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0A2A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91072" y="4736592"/>
            <a:ext cx="118872" cy="1481328"/>
          </a:xfrm>
          <a:prstGeom prst="rect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0" y="4974336"/>
            <a:ext cx="384048" cy="384048"/>
          </a:xfrm>
          <a:prstGeom prst="ellipse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974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937760"/>
            <a:ext cx="4279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2333B"/>
                </a:solidFill>
                <a:latin typeface="Calibri"/>
              </a:rPr>
              <a:t>Noise-robust negative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5303520"/>
            <a:ext cx="4233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0" i="0">
                <a:solidFill>
                  <a:srgbClr val="5E6E73"/>
                </a:solidFill>
                <a:latin typeface="Calibri"/>
              </a:rPr>
              <a:t>The result holds at every measurement-confidence level (R-CONF); cleaner labels would not change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E6E73"/>
                </a:solidFill>
                <a:latin typeface="Calibri"/>
              </a:rPr>
              <a:t>Conditional Gene Essentiality  ·  frozen PLM + chemistry → conditional ranking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E6E7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8A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 spc="220">
                <a:solidFill>
                  <a:srgbClr val="8AD9CF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1381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The honest scope — and what's left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modeling thread is closed with a clean, pre-registered negative. </a:t>
            </a:r>
            <a:r>
              <a:rPr sz="1600" b="0" i="0">
                <a:solidFill>
                  <a:srgbClr val="DCE8EA"/>
                </a:solidFill>
                <a:latin typeface="Calibri"/>
              </a:rPr>
              <a:t>That result — a rigorous benchmark showing a simple lookup beats learned models — </a:t>
            </a:r>
            <a:r>
              <a:rPr sz="1600" b="1" i="0">
                <a:solidFill>
                  <a:srgbClr val="8AD9CF"/>
                </a:solidFill>
                <a:latin typeface="Calibri"/>
              </a:rPr>
              <a:t>is the contribution.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3493008" cy="2834640"/>
          </a:xfrm>
          <a:prstGeom prst="roundRect">
            <a:avLst>
              <a:gd name="adj" fmla="val 5000"/>
            </a:avLst>
          </a:prstGeom>
          <a:solidFill>
            <a:srgbClr val="10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697480"/>
            <a:ext cx="3493008" cy="118872"/>
          </a:xfrm>
          <a:prstGeom prst="rect">
            <a:avLst/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2999232"/>
            <a:ext cx="873252" cy="310896"/>
          </a:xfrm>
          <a:prstGeom prst="roundRect">
            <a:avLst>
              <a:gd name="adj" fmla="val 50000"/>
            </a:avLst>
          </a:prstGeom>
          <a:solidFill>
            <a:srgbClr val="E09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010204"/>
            <a:ext cx="8732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A2A33"/>
                </a:solidFill>
                <a:latin typeface="Calibri"/>
              </a:rPr>
              <a:t>ADOPTED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204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Georgia"/>
              </a:rPr>
              <a:t>Characterization 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30358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8AD9CF"/>
                </a:solidFill>
                <a:latin typeface="Calibri"/>
              </a:rPr>
              <a:t>Publish the rigorous negative: memorization-dominated task, strong-baseline benchmark, noise-robust. Honest, pre-registered, credible.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2697480"/>
            <a:ext cx="3493008" cy="2834640"/>
          </a:xfrm>
          <a:prstGeom prst="roundRect">
            <a:avLst>
              <a:gd name="adj" fmla="val 5000"/>
            </a:avLst>
          </a:prstGeom>
          <a:solidFill>
            <a:srgbClr val="10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2697480"/>
            <a:ext cx="3493008" cy="11887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81728" y="2999232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3010204"/>
            <a:ext cx="96926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5204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Georgia"/>
              </a:rPr>
              <a:t>Cold-gene diagnostic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4069080"/>
            <a:ext cx="30358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4D6D9"/>
                </a:solidFill>
                <a:latin typeface="Calibri"/>
              </a:rPr>
              <a:t>Quantify how far kNN degrades on unseen genes — the one regime a global model could help. A figure, not a gate.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6" y="2697480"/>
            <a:ext cx="3493008" cy="2834640"/>
          </a:xfrm>
          <a:prstGeom prst="roundRect">
            <a:avLst>
              <a:gd name="adj" fmla="val 5000"/>
            </a:avLst>
          </a:prstGeom>
          <a:solidFill>
            <a:srgbClr val="10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7576" y="2697480"/>
            <a:ext cx="3493008" cy="118872"/>
          </a:xfrm>
          <a:prstGeom prst="rect">
            <a:avLst/>
          </a:prstGeom>
          <a:solidFill>
            <a:srgbClr val="6E8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11896" y="2999232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6E8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3010204"/>
            <a:ext cx="96926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DEFERRED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35204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Georgia"/>
              </a:rPr>
              <a:t>R-EMB moonshot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4069080"/>
            <a:ext cx="30358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FB6BB"/>
                </a:solidFill>
                <a:latin typeface="Calibri"/>
              </a:rPr>
              <a:t>Fitness-aware inductive embedding. linear-MF says it won't help warm; its only target (cold transfer) has a discouraging prior.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D9CF"/>
                </a:solidFill>
                <a:latin typeface="Calibri"/>
              </a:rPr>
              <a:t>Conditional Gene Essentiality  ·  frozen PLM + chemistry → conditional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AD9C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